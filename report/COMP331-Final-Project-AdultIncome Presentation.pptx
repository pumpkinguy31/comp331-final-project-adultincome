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79983" autoAdjust="0"/>
  </p:normalViewPr>
  <p:slideViewPr>
    <p:cSldViewPr snapToGrid="0">
      <p:cViewPr varScale="1">
        <p:scale>
          <a:sx n="128" d="100"/>
          <a:sy n="128" d="100"/>
        </p:scale>
        <p:origin x="150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908E2E-ADDF-4C9A-91DF-F6586CDF17C0}" type="datetimeFigureOut">
              <a:rPr lang="en-US" smtClean="0"/>
              <a:t>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E03CCD-01B7-4292-B83C-6C1EAB9D0593}" type="slidenum">
              <a:rPr lang="en-US" smtClean="0"/>
              <a:t>‹#›</a:t>
            </a:fld>
            <a:endParaRPr lang="en-US"/>
          </a:p>
        </p:txBody>
      </p:sp>
    </p:spTree>
    <p:extLst>
      <p:ext uri="{BB962C8B-B14F-4D97-AF65-F5344CB8AC3E}">
        <p14:creationId xmlns:p14="http://schemas.microsoft.com/office/powerpoint/2010/main" val="3363803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my name is Cameron Carnegie, and this is my COMP 331 final project, where I analyzed the Adult Income dataset to study data quality issues and how they affect predictive bias.”</a:t>
            </a:r>
          </a:p>
        </p:txBody>
      </p:sp>
      <p:sp>
        <p:nvSpPr>
          <p:cNvPr id="4" name="Slide Number Placeholder 3"/>
          <p:cNvSpPr>
            <a:spLocks noGrp="1"/>
          </p:cNvSpPr>
          <p:nvPr>
            <p:ph type="sldNum" sz="quarter" idx="5"/>
          </p:nvPr>
        </p:nvSpPr>
        <p:spPr/>
        <p:txBody>
          <a:bodyPr/>
          <a:lstStyle/>
          <a:p>
            <a:fld id="{02E03CCD-01B7-4292-B83C-6C1EAB9D0593}" type="slidenum">
              <a:rPr lang="en-US" smtClean="0"/>
              <a:t>1</a:t>
            </a:fld>
            <a:endParaRPr lang="en-US"/>
          </a:p>
        </p:txBody>
      </p:sp>
    </p:spTree>
    <p:extLst>
      <p:ext uri="{BB962C8B-B14F-4D97-AF65-F5344CB8AC3E}">
        <p14:creationId xmlns:p14="http://schemas.microsoft.com/office/powerpoint/2010/main" val="3474999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 analyzed comes from the 1994 U.S. Census. It includes around 32,000 individuals and is commonly used for machine learning classification tasks. It’s useful for our course because it has several real-world data quality problems — missing values, duplicates, and a lot of demographic skew — which provides a realistic environment to study completeness, consistency, and bias.”</a:t>
            </a:r>
          </a:p>
        </p:txBody>
      </p:sp>
      <p:sp>
        <p:nvSpPr>
          <p:cNvPr id="4" name="Slide Number Placeholder 3"/>
          <p:cNvSpPr>
            <a:spLocks noGrp="1"/>
          </p:cNvSpPr>
          <p:nvPr>
            <p:ph type="sldNum" sz="quarter" idx="5"/>
          </p:nvPr>
        </p:nvSpPr>
        <p:spPr/>
        <p:txBody>
          <a:bodyPr/>
          <a:lstStyle/>
          <a:p>
            <a:fld id="{02E03CCD-01B7-4292-B83C-6C1EAB9D0593}" type="slidenum">
              <a:rPr lang="en-US" smtClean="0"/>
              <a:t>2</a:t>
            </a:fld>
            <a:endParaRPr lang="en-US"/>
          </a:p>
        </p:txBody>
      </p:sp>
    </p:spTree>
    <p:extLst>
      <p:ext uri="{BB962C8B-B14F-4D97-AF65-F5344CB8AC3E}">
        <p14:creationId xmlns:p14="http://schemas.microsoft.com/office/powerpoint/2010/main" val="16299334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 profiled the dataset, I found missing values concentrated in only three features: occupation, </a:t>
            </a:r>
            <a:r>
              <a:rPr lang="en-US" dirty="0" err="1"/>
              <a:t>workclass</a:t>
            </a:r>
            <a:r>
              <a:rPr lang="en-US" dirty="0"/>
              <a:t>, and </a:t>
            </a:r>
            <a:r>
              <a:rPr lang="en-US" dirty="0" err="1"/>
              <a:t>native_country</a:t>
            </a:r>
            <a:r>
              <a:rPr lang="en-US" dirty="0"/>
              <a:t>. Together these accounted for around five percent missingness. Using the dataset’s ‘?’ placeholders, I converted those to </a:t>
            </a:r>
            <a:r>
              <a:rPr lang="en-US" dirty="0" err="1"/>
              <a:t>NaN</a:t>
            </a:r>
            <a:r>
              <a:rPr lang="en-US" dirty="0"/>
              <a:t> and removed the 24 duplicate rows. Because missingness in this dataset tends to correlate with variables like education and income, it weakens the model’s reliability for the groups most affected.”</a:t>
            </a:r>
          </a:p>
        </p:txBody>
      </p:sp>
      <p:sp>
        <p:nvSpPr>
          <p:cNvPr id="4" name="Slide Number Placeholder 3"/>
          <p:cNvSpPr>
            <a:spLocks noGrp="1"/>
          </p:cNvSpPr>
          <p:nvPr>
            <p:ph type="sldNum" sz="quarter" idx="5"/>
          </p:nvPr>
        </p:nvSpPr>
        <p:spPr/>
        <p:txBody>
          <a:bodyPr/>
          <a:lstStyle/>
          <a:p>
            <a:fld id="{02E03CCD-01B7-4292-B83C-6C1EAB9D0593}" type="slidenum">
              <a:rPr lang="en-US" smtClean="0"/>
              <a:t>3</a:t>
            </a:fld>
            <a:endParaRPr lang="en-US"/>
          </a:p>
        </p:txBody>
      </p:sp>
    </p:spTree>
    <p:extLst>
      <p:ext uri="{BB962C8B-B14F-4D97-AF65-F5344CB8AC3E}">
        <p14:creationId xmlns:p14="http://schemas.microsoft.com/office/powerpoint/2010/main" val="37761975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extremely skewed. Most respondents are White, male, and from the United States. Income is also heavily skewed: most earn below $50K. Hours per week shows a strong spike at 40, and capital gains/loss have over 90% zeros with a few extreme values up to 99,999. All of these skews make the model fit the majority group well but reduce accuracy for minority or low-frequency groups.”</a:t>
            </a:r>
          </a:p>
        </p:txBody>
      </p:sp>
      <p:sp>
        <p:nvSpPr>
          <p:cNvPr id="4" name="Slide Number Placeholder 3"/>
          <p:cNvSpPr>
            <a:spLocks noGrp="1"/>
          </p:cNvSpPr>
          <p:nvPr>
            <p:ph type="sldNum" sz="quarter" idx="5"/>
          </p:nvPr>
        </p:nvSpPr>
        <p:spPr/>
        <p:txBody>
          <a:bodyPr/>
          <a:lstStyle/>
          <a:p>
            <a:fld id="{02E03CCD-01B7-4292-B83C-6C1EAB9D0593}" type="slidenum">
              <a:rPr lang="en-US" smtClean="0"/>
              <a:t>4</a:t>
            </a:fld>
            <a:endParaRPr lang="en-US"/>
          </a:p>
        </p:txBody>
      </p:sp>
    </p:spTree>
    <p:extLst>
      <p:ext uri="{BB962C8B-B14F-4D97-AF65-F5344CB8AC3E}">
        <p14:creationId xmlns:p14="http://schemas.microsoft.com/office/powerpoint/2010/main" val="4906269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trained a logistic regression model using one-hot encoding. The overall accuracy was around 85%, but performance varied strongly by subgroup. The model predicted high income for men far more often than for women — the Statistical Parity Difference was about 0.167, meaning men received high-income predictions 16.7% more frequently. Removing sex and race from the model barely changed accuracy, which suggests other features are acting as proxies for those attributes.”</a:t>
            </a:r>
          </a:p>
        </p:txBody>
      </p:sp>
      <p:sp>
        <p:nvSpPr>
          <p:cNvPr id="4" name="Slide Number Placeholder 3"/>
          <p:cNvSpPr>
            <a:spLocks noGrp="1"/>
          </p:cNvSpPr>
          <p:nvPr>
            <p:ph type="sldNum" sz="quarter" idx="5"/>
          </p:nvPr>
        </p:nvSpPr>
        <p:spPr/>
        <p:txBody>
          <a:bodyPr/>
          <a:lstStyle/>
          <a:p>
            <a:fld id="{02E03CCD-01B7-4292-B83C-6C1EAB9D0593}" type="slidenum">
              <a:rPr lang="en-US" smtClean="0"/>
              <a:t>5</a:t>
            </a:fld>
            <a:endParaRPr lang="en-US"/>
          </a:p>
        </p:txBody>
      </p:sp>
    </p:spTree>
    <p:extLst>
      <p:ext uri="{BB962C8B-B14F-4D97-AF65-F5344CB8AC3E}">
        <p14:creationId xmlns:p14="http://schemas.microsoft.com/office/powerpoint/2010/main" val="33958191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showed that data quality problems — especially skew, missingness, and demographic imbalance — directly affect model fairness. Even with an apparently good accuracy score, the model systematically </a:t>
            </a:r>
            <a:r>
              <a:rPr lang="en-US" dirty="0" err="1"/>
              <a:t>mispredicts</a:t>
            </a:r>
            <a:r>
              <a:rPr lang="en-US" dirty="0"/>
              <a:t> certain groups because the underlying data reflects societal inequalities. Good data quality analysis is essential before trusting machine learning predictions.”</a:t>
            </a:r>
          </a:p>
        </p:txBody>
      </p:sp>
      <p:sp>
        <p:nvSpPr>
          <p:cNvPr id="4" name="Slide Number Placeholder 3"/>
          <p:cNvSpPr>
            <a:spLocks noGrp="1"/>
          </p:cNvSpPr>
          <p:nvPr>
            <p:ph type="sldNum" sz="quarter" idx="5"/>
          </p:nvPr>
        </p:nvSpPr>
        <p:spPr/>
        <p:txBody>
          <a:bodyPr/>
          <a:lstStyle/>
          <a:p>
            <a:fld id="{02E03CCD-01B7-4292-B83C-6C1EAB9D0593}" type="slidenum">
              <a:rPr lang="en-US" smtClean="0"/>
              <a:t>7</a:t>
            </a:fld>
            <a:endParaRPr lang="en-US"/>
          </a:p>
        </p:txBody>
      </p:sp>
    </p:spTree>
    <p:extLst>
      <p:ext uri="{BB962C8B-B14F-4D97-AF65-F5344CB8AC3E}">
        <p14:creationId xmlns:p14="http://schemas.microsoft.com/office/powerpoint/2010/main" val="759070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0AC2189-5591-4FA1-BE8F-E83568F8C329}"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E146EA-A3EA-4199-A54A-8645EAC0585D}" type="slidenum">
              <a:rPr lang="en-US" smtClean="0"/>
              <a:t>‹#›</a:t>
            </a:fld>
            <a:endParaRPr lang="en-US"/>
          </a:p>
        </p:txBody>
      </p:sp>
    </p:spTree>
    <p:extLst>
      <p:ext uri="{BB962C8B-B14F-4D97-AF65-F5344CB8AC3E}">
        <p14:creationId xmlns:p14="http://schemas.microsoft.com/office/powerpoint/2010/main" val="259252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AC2189-5591-4FA1-BE8F-E83568F8C329}"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E146EA-A3EA-4199-A54A-8645EAC0585D}" type="slidenum">
              <a:rPr lang="en-US" smtClean="0"/>
              <a:t>‹#›</a:t>
            </a:fld>
            <a:endParaRPr lang="en-US"/>
          </a:p>
        </p:txBody>
      </p:sp>
    </p:spTree>
    <p:extLst>
      <p:ext uri="{BB962C8B-B14F-4D97-AF65-F5344CB8AC3E}">
        <p14:creationId xmlns:p14="http://schemas.microsoft.com/office/powerpoint/2010/main" val="2776160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AC2189-5591-4FA1-BE8F-E83568F8C329}"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E146EA-A3EA-4199-A54A-8645EAC0585D}" type="slidenum">
              <a:rPr lang="en-US" smtClean="0"/>
              <a:t>‹#›</a:t>
            </a:fld>
            <a:endParaRPr lang="en-US"/>
          </a:p>
        </p:txBody>
      </p:sp>
    </p:spTree>
    <p:extLst>
      <p:ext uri="{BB962C8B-B14F-4D97-AF65-F5344CB8AC3E}">
        <p14:creationId xmlns:p14="http://schemas.microsoft.com/office/powerpoint/2010/main" val="679771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0AC2189-5591-4FA1-BE8F-E83568F8C329}"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E146EA-A3EA-4199-A54A-8645EAC0585D}" type="slidenum">
              <a:rPr lang="en-US" smtClean="0"/>
              <a:t>‹#›</a:t>
            </a:fld>
            <a:endParaRPr lang="en-US"/>
          </a:p>
        </p:txBody>
      </p:sp>
    </p:spTree>
    <p:extLst>
      <p:ext uri="{BB962C8B-B14F-4D97-AF65-F5344CB8AC3E}">
        <p14:creationId xmlns:p14="http://schemas.microsoft.com/office/powerpoint/2010/main" val="36340301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AC2189-5591-4FA1-BE8F-E83568F8C329}" type="datetimeFigureOut">
              <a:rPr lang="en-US" smtClean="0"/>
              <a:t>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E146EA-A3EA-4199-A54A-8645EAC0585D}" type="slidenum">
              <a:rPr lang="en-US" smtClean="0"/>
              <a:t>‹#›</a:t>
            </a:fld>
            <a:endParaRPr lang="en-US"/>
          </a:p>
        </p:txBody>
      </p:sp>
    </p:spTree>
    <p:extLst>
      <p:ext uri="{BB962C8B-B14F-4D97-AF65-F5344CB8AC3E}">
        <p14:creationId xmlns:p14="http://schemas.microsoft.com/office/powerpoint/2010/main" val="9662569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0AC2189-5591-4FA1-BE8F-E83568F8C329}" type="datetimeFigureOut">
              <a:rPr lang="en-US" smtClean="0"/>
              <a:t>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E146EA-A3EA-4199-A54A-8645EAC0585D}" type="slidenum">
              <a:rPr lang="en-US" smtClean="0"/>
              <a:t>‹#›</a:t>
            </a:fld>
            <a:endParaRPr lang="en-US"/>
          </a:p>
        </p:txBody>
      </p:sp>
    </p:spTree>
    <p:extLst>
      <p:ext uri="{BB962C8B-B14F-4D97-AF65-F5344CB8AC3E}">
        <p14:creationId xmlns:p14="http://schemas.microsoft.com/office/powerpoint/2010/main" val="1243206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AC2189-5591-4FA1-BE8F-E83568F8C329}" type="datetimeFigureOut">
              <a:rPr lang="en-US" smtClean="0"/>
              <a:t>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E146EA-A3EA-4199-A54A-8645EAC0585D}" type="slidenum">
              <a:rPr lang="en-US" smtClean="0"/>
              <a:t>‹#›</a:t>
            </a:fld>
            <a:endParaRPr lang="en-US"/>
          </a:p>
        </p:txBody>
      </p:sp>
    </p:spTree>
    <p:extLst>
      <p:ext uri="{BB962C8B-B14F-4D97-AF65-F5344CB8AC3E}">
        <p14:creationId xmlns:p14="http://schemas.microsoft.com/office/powerpoint/2010/main" val="3012471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AC2189-5591-4FA1-BE8F-E83568F8C329}"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E146EA-A3EA-4199-A54A-8645EAC0585D}" type="slidenum">
              <a:rPr lang="en-US" smtClean="0"/>
              <a:t>‹#›</a:t>
            </a:fld>
            <a:endParaRPr lang="en-US"/>
          </a:p>
        </p:txBody>
      </p:sp>
    </p:spTree>
    <p:extLst>
      <p:ext uri="{BB962C8B-B14F-4D97-AF65-F5344CB8AC3E}">
        <p14:creationId xmlns:p14="http://schemas.microsoft.com/office/powerpoint/2010/main" val="2356113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0AC2189-5591-4FA1-BE8F-E83568F8C329}"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E146EA-A3EA-4199-A54A-8645EAC0585D}" type="slidenum">
              <a:rPr lang="en-US" smtClean="0"/>
              <a:t>‹#›</a:t>
            </a:fld>
            <a:endParaRPr lang="en-US"/>
          </a:p>
        </p:txBody>
      </p:sp>
    </p:spTree>
    <p:extLst>
      <p:ext uri="{BB962C8B-B14F-4D97-AF65-F5344CB8AC3E}">
        <p14:creationId xmlns:p14="http://schemas.microsoft.com/office/powerpoint/2010/main" val="3323408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AC2189-5591-4FA1-BE8F-E83568F8C329}"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E146EA-A3EA-4199-A54A-8645EAC0585D}" type="slidenum">
              <a:rPr lang="en-US" smtClean="0"/>
              <a:t>‹#›</a:t>
            </a:fld>
            <a:endParaRPr lang="en-US"/>
          </a:p>
        </p:txBody>
      </p:sp>
    </p:spTree>
    <p:extLst>
      <p:ext uri="{BB962C8B-B14F-4D97-AF65-F5344CB8AC3E}">
        <p14:creationId xmlns:p14="http://schemas.microsoft.com/office/powerpoint/2010/main" val="2752533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AC2189-5591-4FA1-BE8F-E83568F8C329}"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E146EA-A3EA-4199-A54A-8645EAC0585D}"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8368123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AC2189-5591-4FA1-BE8F-E83568F8C329}"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E146EA-A3EA-4199-A54A-8645EAC0585D}" type="slidenum">
              <a:rPr lang="en-US" smtClean="0"/>
              <a:t>‹#›</a:t>
            </a:fld>
            <a:endParaRPr lang="en-US"/>
          </a:p>
        </p:txBody>
      </p:sp>
    </p:spTree>
    <p:extLst>
      <p:ext uri="{BB962C8B-B14F-4D97-AF65-F5344CB8AC3E}">
        <p14:creationId xmlns:p14="http://schemas.microsoft.com/office/powerpoint/2010/main" val="5868553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AC2189-5591-4FA1-BE8F-E83568F8C329}"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E146EA-A3EA-4199-A54A-8645EAC0585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09884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AC2189-5591-4FA1-BE8F-E83568F8C329}"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E146EA-A3EA-4199-A54A-8645EAC0585D}" type="slidenum">
              <a:rPr lang="en-US" smtClean="0"/>
              <a:t>‹#›</a:t>
            </a:fld>
            <a:endParaRPr lang="en-US"/>
          </a:p>
        </p:txBody>
      </p:sp>
    </p:spTree>
    <p:extLst>
      <p:ext uri="{BB962C8B-B14F-4D97-AF65-F5344CB8AC3E}">
        <p14:creationId xmlns:p14="http://schemas.microsoft.com/office/powerpoint/2010/main" val="4266370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AC2189-5591-4FA1-BE8F-E83568F8C329}"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E146EA-A3EA-4199-A54A-8645EAC0585D}" type="slidenum">
              <a:rPr lang="en-US" smtClean="0"/>
              <a:t>‹#›</a:t>
            </a:fld>
            <a:endParaRPr lang="en-US"/>
          </a:p>
        </p:txBody>
      </p:sp>
    </p:spTree>
    <p:extLst>
      <p:ext uri="{BB962C8B-B14F-4D97-AF65-F5344CB8AC3E}">
        <p14:creationId xmlns:p14="http://schemas.microsoft.com/office/powerpoint/2010/main" val="37490886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AC2189-5591-4FA1-BE8F-E83568F8C329}"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E146EA-A3EA-4199-A54A-8645EAC0585D}" type="slidenum">
              <a:rPr lang="en-US" smtClean="0"/>
              <a:t>‹#›</a:t>
            </a:fld>
            <a:endParaRPr lang="en-US"/>
          </a:p>
        </p:txBody>
      </p:sp>
    </p:spTree>
    <p:extLst>
      <p:ext uri="{BB962C8B-B14F-4D97-AF65-F5344CB8AC3E}">
        <p14:creationId xmlns:p14="http://schemas.microsoft.com/office/powerpoint/2010/main" val="777348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0AC2189-5591-4FA1-BE8F-E83568F8C329}" type="datetimeFigureOut">
              <a:rPr lang="en-US" smtClean="0"/>
              <a:t>12/3/2025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FE146EA-A3EA-4199-A54A-8645EAC0585D}" type="slidenum">
              <a:rPr lang="en-US" smtClean="0"/>
              <a:t>‹#›</a:t>
            </a:fld>
            <a:endParaRPr lang="en-US"/>
          </a:p>
        </p:txBody>
      </p:sp>
    </p:spTree>
    <p:extLst>
      <p:ext uri="{BB962C8B-B14F-4D97-AF65-F5344CB8AC3E}">
        <p14:creationId xmlns:p14="http://schemas.microsoft.com/office/powerpoint/2010/main" val="3674689568"/>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7D360-A7E2-9DE4-AAAE-DED11EC4EFE5}"/>
              </a:ext>
            </a:extLst>
          </p:cNvPr>
          <p:cNvSpPr>
            <a:spLocks noGrp="1"/>
          </p:cNvSpPr>
          <p:nvPr>
            <p:ph type="ctrTitle"/>
          </p:nvPr>
        </p:nvSpPr>
        <p:spPr/>
        <p:txBody>
          <a:bodyPr>
            <a:normAutofit fontScale="90000"/>
          </a:bodyPr>
          <a:lstStyle/>
          <a:p>
            <a:r>
              <a:rPr lang="en-US" dirty="0"/>
              <a:t>Assessing Data Quality and Predictive Bias in the Adult Income Dataset</a:t>
            </a:r>
          </a:p>
        </p:txBody>
      </p:sp>
      <p:sp>
        <p:nvSpPr>
          <p:cNvPr id="3" name="Subtitle 2">
            <a:extLst>
              <a:ext uri="{FF2B5EF4-FFF2-40B4-BE49-F238E27FC236}">
                <a16:creationId xmlns:a16="http://schemas.microsoft.com/office/drawing/2014/main" id="{3C1649C1-28D6-7C23-C722-30CF1B141B01}"/>
              </a:ext>
            </a:extLst>
          </p:cNvPr>
          <p:cNvSpPr>
            <a:spLocks noGrp="1"/>
          </p:cNvSpPr>
          <p:nvPr>
            <p:ph type="subTitle" idx="1"/>
          </p:nvPr>
        </p:nvSpPr>
        <p:spPr/>
        <p:txBody>
          <a:bodyPr>
            <a:normAutofit lnSpcReduction="10000"/>
          </a:bodyPr>
          <a:lstStyle/>
          <a:p>
            <a:r>
              <a:rPr lang="en-US" dirty="0"/>
              <a:t>COMP 331 — Final Project Presentation</a:t>
            </a:r>
          </a:p>
          <a:p>
            <a:r>
              <a:rPr lang="en-US" dirty="0"/>
              <a:t>Professor Amir </a:t>
            </a:r>
            <a:r>
              <a:rPr lang="en-US" dirty="0" err="1"/>
              <a:t>Daneshpajouh</a:t>
            </a:r>
            <a:endParaRPr lang="en-US" dirty="0"/>
          </a:p>
          <a:p>
            <a:r>
              <a:rPr lang="en-US" dirty="0"/>
              <a:t>By Cameron Carnegie</a:t>
            </a:r>
          </a:p>
        </p:txBody>
      </p:sp>
    </p:spTree>
    <p:extLst>
      <p:ext uri="{BB962C8B-B14F-4D97-AF65-F5344CB8AC3E}">
        <p14:creationId xmlns:p14="http://schemas.microsoft.com/office/powerpoint/2010/main" val="4044293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5F10-B6C6-724F-B5E8-19CBBEBE4BB3}"/>
              </a:ext>
            </a:extLst>
          </p:cNvPr>
          <p:cNvSpPr>
            <a:spLocks noGrp="1"/>
          </p:cNvSpPr>
          <p:nvPr>
            <p:ph type="title"/>
          </p:nvPr>
        </p:nvSpPr>
        <p:spPr/>
        <p:txBody>
          <a:bodyPr/>
          <a:lstStyle/>
          <a:p>
            <a:r>
              <a:rPr lang="en-US" dirty="0"/>
              <a:t>The Dataset</a:t>
            </a:r>
          </a:p>
        </p:txBody>
      </p:sp>
      <p:pic>
        <p:nvPicPr>
          <p:cNvPr id="5" name="Content Placeholder 4">
            <a:extLst>
              <a:ext uri="{FF2B5EF4-FFF2-40B4-BE49-F238E27FC236}">
                <a16:creationId xmlns:a16="http://schemas.microsoft.com/office/drawing/2014/main" id="{378ABBDD-B732-8FC8-0A9E-6173E0E1D6B6}"/>
              </a:ext>
            </a:extLst>
          </p:cNvPr>
          <p:cNvPicPr>
            <a:picLocks noGrp="1" noChangeAspect="1"/>
          </p:cNvPicPr>
          <p:nvPr>
            <p:ph idx="1"/>
          </p:nvPr>
        </p:nvPicPr>
        <p:blipFill>
          <a:blip r:embed="rId3"/>
          <a:stretch>
            <a:fillRect/>
          </a:stretch>
        </p:blipFill>
        <p:spPr>
          <a:xfrm>
            <a:off x="677863" y="2412898"/>
            <a:ext cx="8596312" cy="3376816"/>
          </a:xfrm>
          <a:prstGeom prst="rect">
            <a:avLst/>
          </a:prstGeom>
        </p:spPr>
      </p:pic>
      <p:sp>
        <p:nvSpPr>
          <p:cNvPr id="6" name="TextBox 5">
            <a:extLst>
              <a:ext uri="{FF2B5EF4-FFF2-40B4-BE49-F238E27FC236}">
                <a16:creationId xmlns:a16="http://schemas.microsoft.com/office/drawing/2014/main" id="{D2672159-9FEE-70B3-700B-490AC036DF6F}"/>
              </a:ext>
            </a:extLst>
          </p:cNvPr>
          <p:cNvSpPr txBox="1"/>
          <p:nvPr/>
        </p:nvSpPr>
        <p:spPr>
          <a:xfrm>
            <a:off x="614597" y="5925234"/>
            <a:ext cx="1356610" cy="646331"/>
          </a:xfrm>
          <a:prstGeom prst="rect">
            <a:avLst/>
          </a:prstGeom>
          <a:noFill/>
        </p:spPr>
        <p:txBody>
          <a:bodyPr wrap="square" rtlCol="0">
            <a:spAutoFit/>
          </a:bodyPr>
          <a:lstStyle/>
          <a:p>
            <a:r>
              <a:rPr lang="en-US" dirty="0"/>
              <a:t>32,561 rows</a:t>
            </a:r>
          </a:p>
        </p:txBody>
      </p:sp>
      <p:sp>
        <p:nvSpPr>
          <p:cNvPr id="7" name="TextBox 6">
            <a:extLst>
              <a:ext uri="{FF2B5EF4-FFF2-40B4-BE49-F238E27FC236}">
                <a16:creationId xmlns:a16="http://schemas.microsoft.com/office/drawing/2014/main" id="{748BE9D1-2D91-2D02-B971-C31BF73F90DF}"/>
              </a:ext>
            </a:extLst>
          </p:cNvPr>
          <p:cNvSpPr txBox="1"/>
          <p:nvPr/>
        </p:nvSpPr>
        <p:spPr>
          <a:xfrm>
            <a:off x="2645764" y="2810656"/>
            <a:ext cx="6468256" cy="369332"/>
          </a:xfrm>
          <a:prstGeom prst="rect">
            <a:avLst/>
          </a:prstGeom>
          <a:noFill/>
        </p:spPr>
        <p:txBody>
          <a:bodyPr wrap="square" rtlCol="0">
            <a:spAutoFit/>
          </a:bodyPr>
          <a:lstStyle/>
          <a:p>
            <a:r>
              <a:rPr lang="en-US" dirty="0">
                <a:solidFill>
                  <a:schemeClr val="bg1"/>
                </a:solidFill>
              </a:rPr>
              <a:t>14 features ….. -----------------------------------------------------&gt;</a:t>
            </a:r>
          </a:p>
        </p:txBody>
      </p:sp>
      <p:pic>
        <p:nvPicPr>
          <p:cNvPr id="9" name="Picture 8">
            <a:extLst>
              <a:ext uri="{FF2B5EF4-FFF2-40B4-BE49-F238E27FC236}">
                <a16:creationId xmlns:a16="http://schemas.microsoft.com/office/drawing/2014/main" id="{15A4E18D-C1F2-AA62-26FC-34026392260C}"/>
              </a:ext>
            </a:extLst>
          </p:cNvPr>
          <p:cNvPicPr>
            <a:picLocks noChangeAspect="1"/>
          </p:cNvPicPr>
          <p:nvPr/>
        </p:nvPicPr>
        <p:blipFill>
          <a:blip r:embed="rId4"/>
          <a:stretch>
            <a:fillRect/>
          </a:stretch>
        </p:blipFill>
        <p:spPr>
          <a:xfrm>
            <a:off x="9274002" y="3179988"/>
            <a:ext cx="735377" cy="2456017"/>
          </a:xfrm>
          <a:prstGeom prst="rect">
            <a:avLst/>
          </a:prstGeom>
        </p:spPr>
      </p:pic>
      <p:sp>
        <p:nvSpPr>
          <p:cNvPr id="10" name="TextBox 9">
            <a:extLst>
              <a:ext uri="{FF2B5EF4-FFF2-40B4-BE49-F238E27FC236}">
                <a16:creationId xmlns:a16="http://schemas.microsoft.com/office/drawing/2014/main" id="{76754BFA-A795-FADC-EA2B-B206FAD00E09}"/>
              </a:ext>
            </a:extLst>
          </p:cNvPr>
          <p:cNvSpPr txBox="1"/>
          <p:nvPr/>
        </p:nvSpPr>
        <p:spPr>
          <a:xfrm>
            <a:off x="9274002" y="2533657"/>
            <a:ext cx="2118523" cy="646331"/>
          </a:xfrm>
          <a:prstGeom prst="rect">
            <a:avLst/>
          </a:prstGeom>
          <a:noFill/>
        </p:spPr>
        <p:txBody>
          <a:bodyPr wrap="square" rtlCol="0">
            <a:spAutoFit/>
          </a:bodyPr>
          <a:lstStyle/>
          <a:p>
            <a:r>
              <a:rPr lang="en-US" dirty="0"/>
              <a:t>to see if income &gt;50k or &lt;=50k</a:t>
            </a:r>
          </a:p>
        </p:txBody>
      </p:sp>
      <p:sp>
        <p:nvSpPr>
          <p:cNvPr id="11" name="TextBox 10">
            <a:extLst>
              <a:ext uri="{FF2B5EF4-FFF2-40B4-BE49-F238E27FC236}">
                <a16:creationId xmlns:a16="http://schemas.microsoft.com/office/drawing/2014/main" id="{5F0D4182-A8D7-C414-0747-5B848AE3FA79}"/>
              </a:ext>
            </a:extLst>
          </p:cNvPr>
          <p:cNvSpPr txBox="1"/>
          <p:nvPr/>
        </p:nvSpPr>
        <p:spPr>
          <a:xfrm>
            <a:off x="1618937" y="5910473"/>
            <a:ext cx="8521909" cy="646331"/>
          </a:xfrm>
          <a:prstGeom prst="rect">
            <a:avLst/>
          </a:prstGeom>
          <a:noFill/>
        </p:spPr>
        <p:txBody>
          <a:bodyPr wrap="square" rtlCol="0">
            <a:spAutoFit/>
          </a:bodyPr>
          <a:lstStyle/>
          <a:p>
            <a:r>
              <a:rPr lang="en-US" i="1" dirty="0"/>
              <a:t>Note: once categorical features are one-hot encoded, its actually 96 features for the regression model (7 different marital statuses, 40+ countries, etc.) </a:t>
            </a:r>
          </a:p>
        </p:txBody>
      </p:sp>
    </p:spTree>
    <p:extLst>
      <p:ext uri="{BB962C8B-B14F-4D97-AF65-F5344CB8AC3E}">
        <p14:creationId xmlns:p14="http://schemas.microsoft.com/office/powerpoint/2010/main" val="36267175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AC86A-6461-F967-017E-93CDDCDE37E3}"/>
              </a:ext>
            </a:extLst>
          </p:cNvPr>
          <p:cNvSpPr>
            <a:spLocks noGrp="1"/>
          </p:cNvSpPr>
          <p:nvPr>
            <p:ph type="title"/>
          </p:nvPr>
        </p:nvSpPr>
        <p:spPr/>
        <p:txBody>
          <a:bodyPr/>
          <a:lstStyle/>
          <a:p>
            <a:r>
              <a:rPr lang="en-US" dirty="0"/>
              <a:t>Data Quality Findings: Completeness</a:t>
            </a:r>
          </a:p>
        </p:txBody>
      </p:sp>
      <p:pic>
        <p:nvPicPr>
          <p:cNvPr id="11" name="Content Placeholder 10">
            <a:extLst>
              <a:ext uri="{FF2B5EF4-FFF2-40B4-BE49-F238E27FC236}">
                <a16:creationId xmlns:a16="http://schemas.microsoft.com/office/drawing/2014/main" id="{D8A714FC-2860-32F9-3C8C-61BEC83A8FA1}"/>
              </a:ext>
            </a:extLst>
          </p:cNvPr>
          <p:cNvPicPr>
            <a:picLocks noGrp="1" noChangeAspect="1"/>
          </p:cNvPicPr>
          <p:nvPr>
            <p:ph idx="1"/>
          </p:nvPr>
        </p:nvPicPr>
        <p:blipFill>
          <a:blip r:embed="rId3"/>
          <a:stretch>
            <a:fillRect/>
          </a:stretch>
        </p:blipFill>
        <p:spPr>
          <a:xfrm>
            <a:off x="6726460" y="2217061"/>
            <a:ext cx="2758828" cy="3881437"/>
          </a:xfrm>
          <a:prstGeom prst="rect">
            <a:avLst/>
          </a:prstGeom>
        </p:spPr>
      </p:pic>
      <p:pic>
        <p:nvPicPr>
          <p:cNvPr id="9" name="Picture 8">
            <a:extLst>
              <a:ext uri="{FF2B5EF4-FFF2-40B4-BE49-F238E27FC236}">
                <a16:creationId xmlns:a16="http://schemas.microsoft.com/office/drawing/2014/main" id="{D997A4E9-57E3-8902-EDF7-9DC6463FDFCC}"/>
              </a:ext>
            </a:extLst>
          </p:cNvPr>
          <p:cNvPicPr>
            <a:picLocks noChangeAspect="1"/>
          </p:cNvPicPr>
          <p:nvPr/>
        </p:nvPicPr>
        <p:blipFill>
          <a:blip r:embed="rId4"/>
          <a:stretch>
            <a:fillRect/>
          </a:stretch>
        </p:blipFill>
        <p:spPr>
          <a:xfrm>
            <a:off x="812247" y="2442070"/>
            <a:ext cx="5726836" cy="2954389"/>
          </a:xfrm>
          <a:prstGeom prst="rect">
            <a:avLst/>
          </a:prstGeom>
        </p:spPr>
      </p:pic>
      <p:sp>
        <p:nvSpPr>
          <p:cNvPr id="12" name="TextBox 11">
            <a:extLst>
              <a:ext uri="{FF2B5EF4-FFF2-40B4-BE49-F238E27FC236}">
                <a16:creationId xmlns:a16="http://schemas.microsoft.com/office/drawing/2014/main" id="{86C5CE29-F6D1-6189-2B9A-2781B9F0D08D}"/>
              </a:ext>
            </a:extLst>
          </p:cNvPr>
          <p:cNvSpPr txBox="1"/>
          <p:nvPr/>
        </p:nvSpPr>
        <p:spPr>
          <a:xfrm>
            <a:off x="1545613" y="1847729"/>
            <a:ext cx="3919928" cy="369332"/>
          </a:xfrm>
          <a:prstGeom prst="rect">
            <a:avLst/>
          </a:prstGeom>
          <a:noFill/>
        </p:spPr>
        <p:txBody>
          <a:bodyPr wrap="square" rtlCol="0">
            <a:spAutoFit/>
          </a:bodyPr>
          <a:lstStyle/>
          <a:p>
            <a:r>
              <a:rPr lang="en-US" dirty="0"/>
              <a:t>Find rows with missing data values</a:t>
            </a:r>
          </a:p>
        </p:txBody>
      </p:sp>
      <p:sp>
        <p:nvSpPr>
          <p:cNvPr id="13" name="TextBox 12">
            <a:extLst>
              <a:ext uri="{FF2B5EF4-FFF2-40B4-BE49-F238E27FC236}">
                <a16:creationId xmlns:a16="http://schemas.microsoft.com/office/drawing/2014/main" id="{7B91B73E-F73E-FA12-C78B-9D9E92AC570B}"/>
              </a:ext>
            </a:extLst>
          </p:cNvPr>
          <p:cNvSpPr txBox="1"/>
          <p:nvPr/>
        </p:nvSpPr>
        <p:spPr>
          <a:xfrm>
            <a:off x="6569382" y="1745734"/>
            <a:ext cx="3072984" cy="369332"/>
          </a:xfrm>
          <a:prstGeom prst="rect">
            <a:avLst/>
          </a:prstGeom>
          <a:noFill/>
        </p:spPr>
        <p:txBody>
          <a:bodyPr wrap="square" rtlCol="0">
            <a:spAutoFit/>
          </a:bodyPr>
          <a:lstStyle/>
          <a:p>
            <a:r>
              <a:rPr lang="en-US" dirty="0"/>
              <a:t>Missing data in 3 categories</a:t>
            </a:r>
          </a:p>
        </p:txBody>
      </p:sp>
    </p:spTree>
    <p:extLst>
      <p:ext uri="{BB962C8B-B14F-4D97-AF65-F5344CB8AC3E}">
        <p14:creationId xmlns:p14="http://schemas.microsoft.com/office/powerpoint/2010/main" val="1273854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7A473-DFB0-A0C1-58DE-94C81DEAB5A0}"/>
              </a:ext>
            </a:extLst>
          </p:cNvPr>
          <p:cNvSpPr>
            <a:spLocks noGrp="1"/>
          </p:cNvSpPr>
          <p:nvPr>
            <p:ph type="title"/>
          </p:nvPr>
        </p:nvSpPr>
        <p:spPr/>
        <p:txBody>
          <a:bodyPr/>
          <a:lstStyle/>
          <a:p>
            <a:r>
              <a:rPr lang="en-US" dirty="0"/>
              <a:t>Data Quality Findings: Skew &amp; Outliers</a:t>
            </a:r>
          </a:p>
        </p:txBody>
      </p:sp>
      <p:sp>
        <p:nvSpPr>
          <p:cNvPr id="6" name="TextBox 5">
            <a:extLst>
              <a:ext uri="{FF2B5EF4-FFF2-40B4-BE49-F238E27FC236}">
                <a16:creationId xmlns:a16="http://schemas.microsoft.com/office/drawing/2014/main" id="{7424E0EC-825C-6509-4235-BC580F008FA3}"/>
              </a:ext>
            </a:extLst>
          </p:cNvPr>
          <p:cNvSpPr txBox="1"/>
          <p:nvPr/>
        </p:nvSpPr>
        <p:spPr>
          <a:xfrm>
            <a:off x="254833" y="2076137"/>
            <a:ext cx="337278" cy="2308324"/>
          </a:xfrm>
          <a:prstGeom prst="rect">
            <a:avLst/>
          </a:prstGeom>
          <a:noFill/>
        </p:spPr>
        <p:txBody>
          <a:bodyPr wrap="square" rtlCol="0">
            <a:spAutoFit/>
          </a:bodyPr>
          <a:lstStyle/>
          <a:p>
            <a:r>
              <a:rPr lang="en-US" dirty="0"/>
              <a:t># </a:t>
            </a:r>
          </a:p>
          <a:p>
            <a:endParaRPr lang="en-US" dirty="0"/>
          </a:p>
          <a:p>
            <a:r>
              <a:rPr lang="en-US" dirty="0"/>
              <a:t>people</a:t>
            </a:r>
          </a:p>
        </p:txBody>
      </p:sp>
      <p:sp>
        <p:nvSpPr>
          <p:cNvPr id="7" name="TextBox 6">
            <a:extLst>
              <a:ext uri="{FF2B5EF4-FFF2-40B4-BE49-F238E27FC236}">
                <a16:creationId xmlns:a16="http://schemas.microsoft.com/office/drawing/2014/main" id="{79EF3895-118A-24D3-31EE-04BA664D5276}"/>
              </a:ext>
            </a:extLst>
          </p:cNvPr>
          <p:cNvSpPr txBox="1"/>
          <p:nvPr/>
        </p:nvSpPr>
        <p:spPr>
          <a:xfrm>
            <a:off x="1506512" y="4871803"/>
            <a:ext cx="2375940" cy="369332"/>
          </a:xfrm>
          <a:prstGeom prst="rect">
            <a:avLst/>
          </a:prstGeom>
          <a:noFill/>
        </p:spPr>
        <p:txBody>
          <a:bodyPr wrap="square" rtlCol="0">
            <a:spAutoFit/>
          </a:bodyPr>
          <a:lstStyle/>
          <a:p>
            <a:r>
              <a:rPr lang="en-US" dirty="0"/>
              <a:t># of hours worked</a:t>
            </a:r>
          </a:p>
        </p:txBody>
      </p:sp>
      <p:pic>
        <p:nvPicPr>
          <p:cNvPr id="11" name="Picture 10">
            <a:extLst>
              <a:ext uri="{FF2B5EF4-FFF2-40B4-BE49-F238E27FC236}">
                <a16:creationId xmlns:a16="http://schemas.microsoft.com/office/drawing/2014/main" id="{E4A2BD21-0939-4757-BA4C-B8F44BE894B8}"/>
              </a:ext>
            </a:extLst>
          </p:cNvPr>
          <p:cNvPicPr>
            <a:picLocks noChangeAspect="1"/>
          </p:cNvPicPr>
          <p:nvPr/>
        </p:nvPicPr>
        <p:blipFill>
          <a:blip r:embed="rId3"/>
          <a:stretch>
            <a:fillRect/>
          </a:stretch>
        </p:blipFill>
        <p:spPr>
          <a:xfrm>
            <a:off x="677334" y="1647722"/>
            <a:ext cx="3845979" cy="3279879"/>
          </a:xfrm>
          <a:prstGeom prst="rect">
            <a:avLst/>
          </a:prstGeom>
        </p:spPr>
      </p:pic>
      <p:pic>
        <p:nvPicPr>
          <p:cNvPr id="17" name="Picture 16">
            <a:extLst>
              <a:ext uri="{FF2B5EF4-FFF2-40B4-BE49-F238E27FC236}">
                <a16:creationId xmlns:a16="http://schemas.microsoft.com/office/drawing/2014/main" id="{3D4A640E-8B2A-E055-616D-3AD0B89F25B2}"/>
              </a:ext>
            </a:extLst>
          </p:cNvPr>
          <p:cNvPicPr>
            <a:picLocks noChangeAspect="1"/>
          </p:cNvPicPr>
          <p:nvPr/>
        </p:nvPicPr>
        <p:blipFill>
          <a:blip r:embed="rId4"/>
          <a:stretch>
            <a:fillRect/>
          </a:stretch>
        </p:blipFill>
        <p:spPr>
          <a:xfrm>
            <a:off x="4686025" y="1647722"/>
            <a:ext cx="5408951" cy="2418064"/>
          </a:xfrm>
          <a:prstGeom prst="rect">
            <a:avLst/>
          </a:prstGeom>
        </p:spPr>
      </p:pic>
      <p:pic>
        <p:nvPicPr>
          <p:cNvPr id="23" name="Content Placeholder 22">
            <a:extLst>
              <a:ext uri="{FF2B5EF4-FFF2-40B4-BE49-F238E27FC236}">
                <a16:creationId xmlns:a16="http://schemas.microsoft.com/office/drawing/2014/main" id="{58129186-16CE-33E7-881A-F0575FFDFA85}"/>
              </a:ext>
            </a:extLst>
          </p:cNvPr>
          <p:cNvPicPr>
            <a:picLocks noGrp="1" noChangeAspect="1"/>
          </p:cNvPicPr>
          <p:nvPr>
            <p:ph idx="1"/>
          </p:nvPr>
        </p:nvPicPr>
        <p:blipFill>
          <a:blip r:embed="rId5"/>
          <a:stretch>
            <a:fillRect/>
          </a:stretch>
        </p:blipFill>
        <p:spPr>
          <a:xfrm>
            <a:off x="4686025" y="4186879"/>
            <a:ext cx="5424840" cy="2507117"/>
          </a:xfrm>
          <a:prstGeom prst="rect">
            <a:avLst/>
          </a:prstGeom>
        </p:spPr>
      </p:pic>
      <p:sp>
        <p:nvSpPr>
          <p:cNvPr id="24" name="TextBox 23">
            <a:extLst>
              <a:ext uri="{FF2B5EF4-FFF2-40B4-BE49-F238E27FC236}">
                <a16:creationId xmlns:a16="http://schemas.microsoft.com/office/drawing/2014/main" id="{6F9A71F0-EF6B-3608-F19B-B29FF855F399}"/>
              </a:ext>
            </a:extLst>
          </p:cNvPr>
          <p:cNvSpPr txBox="1"/>
          <p:nvPr/>
        </p:nvSpPr>
        <p:spPr>
          <a:xfrm>
            <a:off x="6850506" y="5343993"/>
            <a:ext cx="1528996" cy="646331"/>
          </a:xfrm>
          <a:prstGeom prst="rect">
            <a:avLst/>
          </a:prstGeom>
          <a:noFill/>
        </p:spPr>
        <p:txBody>
          <a:bodyPr wrap="square" rtlCol="0">
            <a:spAutoFit/>
          </a:bodyPr>
          <a:lstStyle/>
          <a:p>
            <a:r>
              <a:rPr lang="en-US" dirty="0">
                <a:solidFill>
                  <a:schemeClr val="bg1"/>
                </a:solidFill>
              </a:rPr>
              <a:t>Super skewed!</a:t>
            </a:r>
          </a:p>
        </p:txBody>
      </p:sp>
      <p:sp>
        <p:nvSpPr>
          <p:cNvPr id="25" name="TextBox 24">
            <a:extLst>
              <a:ext uri="{FF2B5EF4-FFF2-40B4-BE49-F238E27FC236}">
                <a16:creationId xmlns:a16="http://schemas.microsoft.com/office/drawing/2014/main" id="{6F7454B9-ECEC-AE61-6B87-4F0BC7C7AC75}"/>
              </a:ext>
            </a:extLst>
          </p:cNvPr>
          <p:cNvSpPr txBox="1"/>
          <p:nvPr/>
        </p:nvSpPr>
        <p:spPr>
          <a:xfrm>
            <a:off x="6096000" y="2028596"/>
            <a:ext cx="3432747" cy="646331"/>
          </a:xfrm>
          <a:prstGeom prst="rect">
            <a:avLst/>
          </a:prstGeom>
          <a:noFill/>
        </p:spPr>
        <p:txBody>
          <a:bodyPr wrap="square" rtlCol="0">
            <a:spAutoFit/>
          </a:bodyPr>
          <a:lstStyle/>
          <a:p>
            <a:r>
              <a:rPr lang="en-US" dirty="0">
                <a:solidFill>
                  <a:schemeClr val="bg1"/>
                </a:solidFill>
              </a:rPr>
              <a:t>Capital loss = loss of $ from investments that went bad</a:t>
            </a:r>
          </a:p>
        </p:txBody>
      </p:sp>
    </p:spTree>
    <p:extLst>
      <p:ext uri="{BB962C8B-B14F-4D97-AF65-F5344CB8AC3E}">
        <p14:creationId xmlns:p14="http://schemas.microsoft.com/office/powerpoint/2010/main" val="2845551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6BF34-2B57-7C26-0DE1-9C460874AD0B}"/>
              </a:ext>
            </a:extLst>
          </p:cNvPr>
          <p:cNvSpPr>
            <a:spLocks noGrp="1"/>
          </p:cNvSpPr>
          <p:nvPr>
            <p:ph type="title"/>
          </p:nvPr>
        </p:nvSpPr>
        <p:spPr/>
        <p:txBody>
          <a:bodyPr/>
          <a:lstStyle/>
          <a:p>
            <a:r>
              <a:rPr lang="en-US" dirty="0"/>
              <a:t>Model &amp; Bias Results</a:t>
            </a:r>
          </a:p>
        </p:txBody>
      </p:sp>
      <p:pic>
        <p:nvPicPr>
          <p:cNvPr id="5" name="Content Placeholder 4">
            <a:extLst>
              <a:ext uri="{FF2B5EF4-FFF2-40B4-BE49-F238E27FC236}">
                <a16:creationId xmlns:a16="http://schemas.microsoft.com/office/drawing/2014/main" id="{4A32EF4E-98BE-FFC7-4052-3A70306BCB7E}"/>
              </a:ext>
            </a:extLst>
          </p:cNvPr>
          <p:cNvPicPr>
            <a:picLocks noGrp="1" noChangeAspect="1"/>
          </p:cNvPicPr>
          <p:nvPr>
            <p:ph idx="1"/>
          </p:nvPr>
        </p:nvPicPr>
        <p:blipFill>
          <a:blip r:embed="rId3"/>
          <a:stretch>
            <a:fillRect/>
          </a:stretch>
        </p:blipFill>
        <p:spPr>
          <a:xfrm>
            <a:off x="380276" y="1925008"/>
            <a:ext cx="3556614" cy="2751923"/>
          </a:xfrm>
          <a:prstGeom prst="rect">
            <a:avLst/>
          </a:prstGeom>
        </p:spPr>
      </p:pic>
      <p:sp>
        <p:nvSpPr>
          <p:cNvPr id="6" name="TextBox 5">
            <a:extLst>
              <a:ext uri="{FF2B5EF4-FFF2-40B4-BE49-F238E27FC236}">
                <a16:creationId xmlns:a16="http://schemas.microsoft.com/office/drawing/2014/main" id="{9A9FEAAB-8CC5-174A-C738-5BD7EAC504F0}"/>
              </a:ext>
            </a:extLst>
          </p:cNvPr>
          <p:cNvSpPr txBox="1"/>
          <p:nvPr/>
        </p:nvSpPr>
        <p:spPr>
          <a:xfrm>
            <a:off x="254833" y="1484026"/>
            <a:ext cx="3807501" cy="369332"/>
          </a:xfrm>
          <a:prstGeom prst="rect">
            <a:avLst/>
          </a:prstGeom>
          <a:noFill/>
        </p:spPr>
        <p:txBody>
          <a:bodyPr wrap="square" rtlCol="0">
            <a:spAutoFit/>
          </a:bodyPr>
          <a:lstStyle/>
          <a:p>
            <a:r>
              <a:rPr lang="en-US" dirty="0"/>
              <a:t>Visualizing the regression model</a:t>
            </a:r>
          </a:p>
        </p:txBody>
      </p:sp>
      <p:sp>
        <p:nvSpPr>
          <p:cNvPr id="9" name="TextBox 8">
            <a:extLst>
              <a:ext uri="{FF2B5EF4-FFF2-40B4-BE49-F238E27FC236}">
                <a16:creationId xmlns:a16="http://schemas.microsoft.com/office/drawing/2014/main" id="{D97FA5DF-ADDC-8843-E3B3-24F3108D38D1}"/>
              </a:ext>
            </a:extLst>
          </p:cNvPr>
          <p:cNvSpPr txBox="1"/>
          <p:nvPr/>
        </p:nvSpPr>
        <p:spPr>
          <a:xfrm>
            <a:off x="4139887" y="1484026"/>
            <a:ext cx="2770580" cy="369332"/>
          </a:xfrm>
          <a:prstGeom prst="rect">
            <a:avLst/>
          </a:prstGeom>
          <a:noFill/>
        </p:spPr>
        <p:txBody>
          <a:bodyPr wrap="square" rtlCol="0">
            <a:spAutoFit/>
          </a:bodyPr>
          <a:lstStyle/>
          <a:p>
            <a:r>
              <a:rPr lang="en-US" dirty="0"/>
              <a:t>With a Confusion Matrix</a:t>
            </a:r>
          </a:p>
        </p:txBody>
      </p:sp>
      <p:pic>
        <p:nvPicPr>
          <p:cNvPr id="11" name="Picture 10">
            <a:extLst>
              <a:ext uri="{FF2B5EF4-FFF2-40B4-BE49-F238E27FC236}">
                <a16:creationId xmlns:a16="http://schemas.microsoft.com/office/drawing/2014/main" id="{CFF96EE8-8A3C-2896-C7B3-847729DF46AE}"/>
              </a:ext>
            </a:extLst>
          </p:cNvPr>
          <p:cNvPicPr>
            <a:picLocks noChangeAspect="1"/>
          </p:cNvPicPr>
          <p:nvPr/>
        </p:nvPicPr>
        <p:blipFill>
          <a:blip r:embed="rId4"/>
          <a:stretch>
            <a:fillRect/>
          </a:stretch>
        </p:blipFill>
        <p:spPr>
          <a:xfrm>
            <a:off x="4139886" y="1925008"/>
            <a:ext cx="3229049" cy="3523917"/>
          </a:xfrm>
          <a:prstGeom prst="rect">
            <a:avLst/>
          </a:prstGeom>
        </p:spPr>
      </p:pic>
      <p:pic>
        <p:nvPicPr>
          <p:cNvPr id="13" name="Picture 12">
            <a:extLst>
              <a:ext uri="{FF2B5EF4-FFF2-40B4-BE49-F238E27FC236}">
                <a16:creationId xmlns:a16="http://schemas.microsoft.com/office/drawing/2014/main" id="{AD2F0DAB-32AD-C99B-D0B7-AFB134ADC949}"/>
              </a:ext>
            </a:extLst>
          </p:cNvPr>
          <p:cNvPicPr>
            <a:picLocks noChangeAspect="1"/>
          </p:cNvPicPr>
          <p:nvPr/>
        </p:nvPicPr>
        <p:blipFill>
          <a:blip r:embed="rId5"/>
          <a:stretch>
            <a:fillRect/>
          </a:stretch>
        </p:blipFill>
        <p:spPr>
          <a:xfrm>
            <a:off x="7675180" y="2337237"/>
            <a:ext cx="3994503" cy="2922807"/>
          </a:xfrm>
          <a:prstGeom prst="rect">
            <a:avLst/>
          </a:prstGeom>
        </p:spPr>
      </p:pic>
      <p:sp>
        <p:nvSpPr>
          <p:cNvPr id="14" name="TextBox 13">
            <a:extLst>
              <a:ext uri="{FF2B5EF4-FFF2-40B4-BE49-F238E27FC236}">
                <a16:creationId xmlns:a16="http://schemas.microsoft.com/office/drawing/2014/main" id="{43D76BF2-2080-27F0-9019-A796F4C6D9C6}"/>
              </a:ext>
            </a:extLst>
          </p:cNvPr>
          <p:cNvSpPr txBox="1"/>
          <p:nvPr/>
        </p:nvSpPr>
        <p:spPr>
          <a:xfrm>
            <a:off x="7675180" y="745362"/>
            <a:ext cx="4197246" cy="1477328"/>
          </a:xfrm>
          <a:prstGeom prst="rect">
            <a:avLst/>
          </a:prstGeom>
          <a:noFill/>
        </p:spPr>
        <p:txBody>
          <a:bodyPr wrap="square" rtlCol="0">
            <a:spAutoFit/>
          </a:bodyPr>
          <a:lstStyle/>
          <a:p>
            <a:r>
              <a:rPr lang="en-US" dirty="0"/>
              <a:t>Model worse at predicting &gt;50K than &lt;50k because data heavily skewed &lt;50K. Also note large income disparity between male and female in data and model prediction</a:t>
            </a:r>
          </a:p>
        </p:txBody>
      </p:sp>
      <p:sp>
        <p:nvSpPr>
          <p:cNvPr id="16" name="Oval 15">
            <a:extLst>
              <a:ext uri="{FF2B5EF4-FFF2-40B4-BE49-F238E27FC236}">
                <a16:creationId xmlns:a16="http://schemas.microsoft.com/office/drawing/2014/main" id="{7EA15FDD-973F-2BBF-EBF0-33B477D553D6}"/>
              </a:ext>
            </a:extLst>
          </p:cNvPr>
          <p:cNvSpPr/>
          <p:nvPr/>
        </p:nvSpPr>
        <p:spPr>
          <a:xfrm>
            <a:off x="5351489" y="2818151"/>
            <a:ext cx="479685" cy="232347"/>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4338C00-0EA0-C764-B273-D8B52DC9B3DC}"/>
              </a:ext>
            </a:extLst>
          </p:cNvPr>
          <p:cNvSpPr txBox="1"/>
          <p:nvPr/>
        </p:nvSpPr>
        <p:spPr>
          <a:xfrm>
            <a:off x="5130384" y="2541152"/>
            <a:ext cx="1056806" cy="276999"/>
          </a:xfrm>
          <a:prstGeom prst="rect">
            <a:avLst/>
          </a:prstGeom>
          <a:noFill/>
        </p:spPr>
        <p:txBody>
          <a:bodyPr wrap="square" rtlCol="0">
            <a:spAutoFit/>
          </a:bodyPr>
          <a:lstStyle/>
          <a:p>
            <a:r>
              <a:rPr lang="en-US" sz="1200" dirty="0">
                <a:solidFill>
                  <a:schemeClr val="bg1"/>
                </a:solidFill>
              </a:rPr>
              <a:t>accuracy</a:t>
            </a:r>
          </a:p>
        </p:txBody>
      </p:sp>
    </p:spTree>
    <p:extLst>
      <p:ext uri="{BB962C8B-B14F-4D97-AF65-F5344CB8AC3E}">
        <p14:creationId xmlns:p14="http://schemas.microsoft.com/office/powerpoint/2010/main" val="2764494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E765A-6AB7-8541-3814-AE07890F7CCC}"/>
              </a:ext>
            </a:extLst>
          </p:cNvPr>
          <p:cNvSpPr>
            <a:spLocks noGrp="1"/>
          </p:cNvSpPr>
          <p:nvPr>
            <p:ph type="title"/>
          </p:nvPr>
        </p:nvSpPr>
        <p:spPr/>
        <p:txBody>
          <a:bodyPr/>
          <a:lstStyle/>
          <a:p>
            <a:r>
              <a:rPr lang="en-US" dirty="0"/>
              <a:t>Recommendations</a:t>
            </a:r>
          </a:p>
        </p:txBody>
      </p:sp>
      <p:sp>
        <p:nvSpPr>
          <p:cNvPr id="3" name="Content Placeholder 2">
            <a:extLst>
              <a:ext uri="{FF2B5EF4-FFF2-40B4-BE49-F238E27FC236}">
                <a16:creationId xmlns:a16="http://schemas.microsoft.com/office/drawing/2014/main" id="{0BE10AA1-1FCD-A907-68FA-D4C80A259942}"/>
              </a:ext>
            </a:extLst>
          </p:cNvPr>
          <p:cNvSpPr>
            <a:spLocks noGrp="1"/>
          </p:cNvSpPr>
          <p:nvPr>
            <p:ph idx="1"/>
          </p:nvPr>
        </p:nvSpPr>
        <p:spPr/>
        <p:txBody>
          <a:bodyPr/>
          <a:lstStyle/>
          <a:p>
            <a:r>
              <a:rPr lang="en-US" dirty="0"/>
              <a:t>Imputation </a:t>
            </a:r>
            <a:r>
              <a:rPr lang="en-US" dirty="0">
                <a:sym typeface="Wingdings" panose="05000000000000000000" pitchFamily="2" charset="2"/>
              </a:rPr>
              <a:t> </a:t>
            </a:r>
            <a:r>
              <a:rPr lang="en-US" dirty="0" err="1">
                <a:sym typeface="Wingdings" panose="05000000000000000000" pitchFamily="2" charset="2"/>
              </a:rPr>
              <a:t>e.g</a:t>
            </a:r>
            <a:r>
              <a:rPr lang="en-US" dirty="0">
                <a:sym typeface="Wingdings" panose="05000000000000000000" pitchFamily="2" charset="2"/>
              </a:rPr>
              <a:t> MICE (predict missing values)</a:t>
            </a:r>
            <a:endParaRPr lang="en-US" dirty="0"/>
          </a:p>
          <a:p>
            <a:r>
              <a:rPr lang="en-US" dirty="0"/>
              <a:t>Rebalancing </a:t>
            </a:r>
            <a:r>
              <a:rPr lang="en-US" dirty="0">
                <a:sym typeface="Wingdings" panose="05000000000000000000" pitchFamily="2" charset="2"/>
              </a:rPr>
              <a:t> SMOTE (over-sample underrepresented groups in data)</a:t>
            </a:r>
            <a:endParaRPr lang="en-US" dirty="0"/>
          </a:p>
          <a:p>
            <a:r>
              <a:rPr lang="en-US" dirty="0"/>
              <a:t>Outlier Handling </a:t>
            </a:r>
            <a:r>
              <a:rPr lang="en-US" dirty="0">
                <a:sym typeface="Wingdings" panose="05000000000000000000" pitchFamily="2" charset="2"/>
              </a:rPr>
              <a:t> </a:t>
            </a:r>
            <a:r>
              <a:rPr lang="en-US" dirty="0" err="1">
                <a:sym typeface="Wingdings" panose="05000000000000000000" pitchFamily="2" charset="2"/>
              </a:rPr>
              <a:t>winsorization</a:t>
            </a:r>
            <a:r>
              <a:rPr lang="en-US" dirty="0">
                <a:sym typeface="Wingdings" panose="05000000000000000000" pitchFamily="2" charset="2"/>
              </a:rPr>
              <a:t> (reduce influence of extreme outliers)</a:t>
            </a:r>
            <a:endParaRPr lang="en-US" dirty="0"/>
          </a:p>
          <a:p>
            <a:r>
              <a:rPr lang="en-US" dirty="0"/>
              <a:t>Feature auditing </a:t>
            </a:r>
            <a:r>
              <a:rPr lang="en-US" dirty="0">
                <a:sym typeface="Wingdings" panose="05000000000000000000" pitchFamily="2" charset="2"/>
              </a:rPr>
              <a:t> detect unintended proxy features (features that when combined encode things like gender or race, leading to unintended discrimination or bias in the model)</a:t>
            </a:r>
            <a:endParaRPr lang="en-US" dirty="0"/>
          </a:p>
        </p:txBody>
      </p:sp>
    </p:spTree>
    <p:extLst>
      <p:ext uri="{BB962C8B-B14F-4D97-AF65-F5344CB8AC3E}">
        <p14:creationId xmlns:p14="http://schemas.microsoft.com/office/powerpoint/2010/main" val="1021216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0E305-FC45-F9BF-54C8-53D637B49961}"/>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D17A6CC2-3ECE-2E66-21FE-1A3ECF0ECA04}"/>
              </a:ext>
            </a:extLst>
          </p:cNvPr>
          <p:cNvSpPr>
            <a:spLocks noGrp="1"/>
          </p:cNvSpPr>
          <p:nvPr>
            <p:ph idx="1"/>
          </p:nvPr>
        </p:nvSpPr>
        <p:spPr>
          <a:xfrm>
            <a:off x="677334" y="2160589"/>
            <a:ext cx="9793296" cy="3880773"/>
          </a:xfrm>
        </p:spPr>
        <p:txBody>
          <a:bodyPr>
            <a:normAutofit/>
          </a:bodyPr>
          <a:lstStyle/>
          <a:p>
            <a:r>
              <a:rPr lang="en-US" sz="3200" dirty="0"/>
              <a:t>Bias + skew + missing data </a:t>
            </a:r>
            <a:r>
              <a:rPr lang="en-US" sz="3200" dirty="0">
                <a:sym typeface="Wingdings" panose="05000000000000000000" pitchFamily="2" charset="2"/>
              </a:rPr>
              <a:t> unfair predictions</a:t>
            </a:r>
            <a:endParaRPr lang="en-US" sz="3200" dirty="0"/>
          </a:p>
        </p:txBody>
      </p:sp>
    </p:spTree>
    <p:extLst>
      <p:ext uri="{BB962C8B-B14F-4D97-AF65-F5344CB8AC3E}">
        <p14:creationId xmlns:p14="http://schemas.microsoft.com/office/powerpoint/2010/main" val="384556885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71</TotalTime>
  <Words>639</Words>
  <Application>Microsoft Office PowerPoint</Application>
  <PresentationFormat>Widescreen</PresentationFormat>
  <Paragraphs>43</Paragraphs>
  <Slides>7</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Arial</vt:lpstr>
      <vt:lpstr>Trebuchet MS</vt:lpstr>
      <vt:lpstr>Wingdings</vt:lpstr>
      <vt:lpstr>Wingdings 3</vt:lpstr>
      <vt:lpstr>Facet</vt:lpstr>
      <vt:lpstr>Assessing Data Quality and Predictive Bias in the Adult Income Dataset</vt:lpstr>
      <vt:lpstr>The Dataset</vt:lpstr>
      <vt:lpstr>Data Quality Findings: Completeness</vt:lpstr>
      <vt:lpstr>Data Quality Findings: Skew &amp; Outliers</vt:lpstr>
      <vt:lpstr>Model &amp; Bias Results</vt:lpstr>
      <vt:lpstr>Recommendations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Cameron Carnegie</dc:creator>
  <cp:lastModifiedBy>Cameron Carnegie</cp:lastModifiedBy>
  <cp:revision>6</cp:revision>
  <dcterms:created xsi:type="dcterms:W3CDTF">2025-12-03T22:18:18Z</dcterms:created>
  <dcterms:modified xsi:type="dcterms:W3CDTF">2025-12-03T23:29:38Z</dcterms:modified>
</cp:coreProperties>
</file>